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6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1" d="100"/>
          <a:sy n="81" d="100"/>
        </p:scale>
        <p:origin x="658" y="58"/>
      </p:cViewPr>
      <p:guideLst>
        <p:guide orient="horz" pos="1956"/>
        <p:guide pos="408"/>
        <p:guide orient="horz" pos="3912"/>
        <p:guide pos="7272"/>
        <p:guide orient="horz" pos="1661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21789" y="3583914"/>
            <a:ext cx="8059917" cy="86149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[Student Name:- Pranav Suresh Bagad 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Name:- </a:t>
            </a:r>
            <a:r>
              <a:rPr lang="en-US" b="0" dirty="0" err="1">
                <a:solidFill>
                  <a:schemeClr val="tx1"/>
                </a:solidFill>
              </a:rPr>
              <a:t>R.C.Patel</a:t>
            </a:r>
            <a:r>
              <a:rPr lang="en-US" b="0" dirty="0">
                <a:solidFill>
                  <a:schemeClr val="tx1"/>
                </a:solidFill>
              </a:rPr>
              <a:t> College Of Engineering And Polytechnic, </a:t>
            </a:r>
            <a:r>
              <a:rPr lang="en-US" b="0" dirty="0" err="1">
                <a:solidFill>
                  <a:schemeClr val="tx1"/>
                </a:solidFill>
              </a:rPr>
              <a:t>Shirpur</a:t>
            </a:r>
            <a:r>
              <a:rPr lang="en-US" b="0" dirty="0">
                <a:solidFill>
                  <a:schemeClr val="tx1"/>
                </a:solidFill>
              </a:rPr>
              <a:t>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5" y="2698238"/>
            <a:ext cx="9785390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Title:- </a:t>
            </a:r>
            <a:r>
              <a:rPr lang="en-IN" sz="3200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5" y="4576469"/>
            <a:ext cx="559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ID:- </a:t>
            </a:r>
            <a:r>
              <a:rPr lang="en-IN" b="1" dirty="0"/>
              <a:t>STU6a108d60539081779469664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1999937"/>
            <a:ext cx="6703726" cy="419530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Agricultural activities are influenced by seasonal variations in environmental conditions, farming practices, resource availability and market conditions.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As a result, agricultural performance may differ from one season to another.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However, raw agricultural data does not clearly explain how agricultural performance changes across seasons or what patterns can be observed in different seasonal conditions.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The problem is to analyze the given agricultural dataset and investigate seasonal differences in agricultural performance by identifying meaningful patterns, trends, relationships and variations within the available data.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4A07A4-8DA5-7D21-4EBF-39044E19281B}"/>
              </a:ext>
            </a:extLst>
          </p:cNvPr>
          <p:cNvSpPr txBox="1"/>
          <p:nvPr/>
        </p:nvSpPr>
        <p:spPr>
          <a:xfrm>
            <a:off x="675957" y="1998441"/>
            <a:ext cx="7261389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IN" sz="2000" dirty="0" err="1"/>
              <a:t>Analyzes</a:t>
            </a:r>
            <a:r>
              <a:rPr lang="en-IN" sz="2000" dirty="0"/>
              <a:t> agricultural performance across different seasons, crops, and regions. </a:t>
            </a:r>
          </a:p>
          <a:p>
            <a:pPr lvl="0">
              <a:buClr>
                <a:srgbClr val="00B050"/>
              </a:buClr>
            </a:pPr>
            <a:endParaRPr lang="en-IN" sz="2000" dirty="0"/>
          </a:p>
          <a:p>
            <a:pPr marL="342900" lvl="0" indent="-34290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IN" sz="2000" dirty="0"/>
              <a:t>Studies yield, production, environmental conditions, resources, and economic performance. </a:t>
            </a:r>
          </a:p>
          <a:p>
            <a:pPr lvl="0">
              <a:buClr>
                <a:srgbClr val="00B050"/>
              </a:buClr>
            </a:pPr>
            <a:endParaRPr lang="en-IN" sz="2000" dirty="0"/>
          </a:p>
          <a:p>
            <a:pPr marL="342900" lvl="0" indent="-34290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IN" sz="2000" dirty="0"/>
              <a:t>Cleans and prepares the dataset before analysis. </a:t>
            </a:r>
          </a:p>
          <a:p>
            <a:pPr lvl="0">
              <a:buClr>
                <a:srgbClr val="00B050"/>
              </a:buClr>
            </a:pPr>
            <a:endParaRPr lang="en-IN" sz="2000" dirty="0"/>
          </a:p>
          <a:p>
            <a:pPr marL="342900" lvl="0" indent="-34290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IN" sz="2000" dirty="0"/>
              <a:t>Uses visualization, correlation, and statistical analysis to identify patterns and differences. </a:t>
            </a:r>
          </a:p>
          <a:p>
            <a:pPr lvl="0">
              <a:buClr>
                <a:srgbClr val="00B050"/>
              </a:buClr>
            </a:pPr>
            <a:endParaRPr lang="en-IN" sz="2000" dirty="0"/>
          </a:p>
          <a:p>
            <a:pPr marL="342900" lvl="0" indent="-34290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IN" sz="2000" dirty="0"/>
              <a:t>Provides findings and recommendations for better agricultural planning and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Farmers</a:t>
            </a:r>
            <a:r>
              <a:rPr lang="en-IN" dirty="0"/>
              <a:t> – to understand seasonal crop performance and improve farming decisions. </a:t>
            </a:r>
          </a:p>
          <a:p>
            <a:pPr lvl="0"/>
            <a:r>
              <a:rPr lang="en-IN" b="1" dirty="0"/>
              <a:t>Agricultural Planners</a:t>
            </a:r>
            <a:r>
              <a:rPr lang="en-IN" dirty="0"/>
              <a:t> – to plan crops and resources according to seasonal patterns. </a:t>
            </a:r>
          </a:p>
          <a:p>
            <a:pPr lvl="0"/>
            <a:r>
              <a:rPr lang="en-IN" b="1" dirty="0"/>
              <a:t>Agricultural Officers</a:t>
            </a:r>
            <a:r>
              <a:rPr lang="en-IN" dirty="0"/>
              <a:t> – to study regional and seasonal agricultural performance. </a:t>
            </a:r>
          </a:p>
          <a:p>
            <a:pPr lvl="0"/>
            <a:r>
              <a:rPr lang="en-IN" b="1" dirty="0"/>
              <a:t>Agriculture Researchers</a:t>
            </a:r>
            <a:r>
              <a:rPr lang="en-IN" dirty="0"/>
              <a:t> – to </a:t>
            </a:r>
            <a:r>
              <a:rPr lang="en-IN" dirty="0" err="1"/>
              <a:t>analyze</a:t>
            </a:r>
            <a:r>
              <a:rPr lang="en-IN" dirty="0"/>
              <a:t> crop, environmental, and resource-related trends. </a:t>
            </a:r>
          </a:p>
          <a:p>
            <a:pPr lvl="0"/>
            <a:r>
              <a:rPr lang="en-IN" b="1" dirty="0"/>
              <a:t>Agribusinesses</a:t>
            </a:r>
            <a:r>
              <a:rPr lang="en-IN" dirty="0"/>
              <a:t> – to understand production and economic performance for better planning.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1851" y="1431163"/>
            <a:ext cx="9027702" cy="5243448"/>
          </a:xfrm>
        </p:spPr>
        <p:txBody>
          <a:bodyPr/>
          <a:lstStyle/>
          <a:p>
            <a:pPr lvl="0"/>
            <a:r>
              <a:rPr lang="en-IN" b="1" dirty="0"/>
              <a:t>Python</a:t>
            </a:r>
            <a:r>
              <a:rPr lang="en-IN" dirty="0"/>
              <a:t> – Data analysis and processing </a:t>
            </a:r>
          </a:p>
          <a:p>
            <a:pPr lvl="0"/>
            <a:r>
              <a:rPr lang="en-IN" b="1" dirty="0"/>
              <a:t>Google </a:t>
            </a:r>
            <a:r>
              <a:rPr lang="en-IN" b="1" dirty="0" err="1"/>
              <a:t>Colab</a:t>
            </a:r>
            <a:r>
              <a:rPr lang="en-IN" dirty="0"/>
              <a:t> – Project development and execution </a:t>
            </a:r>
          </a:p>
          <a:p>
            <a:pPr lvl="0"/>
            <a:r>
              <a:rPr lang="en-IN" b="1" dirty="0"/>
              <a:t>Pandas</a:t>
            </a:r>
            <a:r>
              <a:rPr lang="en-IN" dirty="0"/>
              <a:t> – Data cleaning and data manipulation </a:t>
            </a:r>
          </a:p>
          <a:p>
            <a:pPr lvl="0"/>
            <a:r>
              <a:rPr lang="en-IN" b="1" dirty="0"/>
              <a:t>NumPy</a:t>
            </a:r>
            <a:r>
              <a:rPr lang="en-IN" dirty="0"/>
              <a:t> – Numerical calculations </a:t>
            </a:r>
          </a:p>
          <a:p>
            <a:pPr lvl="0"/>
            <a:r>
              <a:rPr lang="en-IN" b="1" dirty="0"/>
              <a:t>Matplotlib</a:t>
            </a:r>
            <a:r>
              <a:rPr lang="en-IN" dirty="0"/>
              <a:t> – Data visualization </a:t>
            </a:r>
          </a:p>
          <a:p>
            <a:pPr lvl="0"/>
            <a:r>
              <a:rPr lang="en-IN" b="1" dirty="0"/>
              <a:t>Seaborn</a:t>
            </a:r>
            <a:r>
              <a:rPr lang="en-IN" dirty="0"/>
              <a:t> – Statistical charts and correlation heatmap </a:t>
            </a:r>
          </a:p>
          <a:p>
            <a:pPr lvl="0"/>
            <a:r>
              <a:rPr lang="en-IN" b="1" dirty="0"/>
              <a:t>Scikit-learn / SciPy</a:t>
            </a:r>
            <a:r>
              <a:rPr lang="en-IN" dirty="0"/>
              <a:t> – Statistical analysis and testing </a:t>
            </a:r>
          </a:p>
          <a:p>
            <a:pPr lvl="0"/>
            <a:r>
              <a:rPr lang="en-IN" b="1" dirty="0"/>
              <a:t>CSV Dataset</a:t>
            </a:r>
            <a:r>
              <a:rPr lang="en-IN" dirty="0"/>
              <a:t> – Source data format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430567"/>
            <a:ext cx="5318990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F60E04-56EE-284D-4D0F-EF476581F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01586"/>
            <a:ext cx="5366601" cy="4381043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AAB93C-D6D9-0CEB-DFEC-00C467469A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5656414"/>
            <a:ext cx="5366601" cy="897509"/>
          </a:xfrm>
        </p:spPr>
        <p:txBody>
          <a:bodyPr>
            <a:normAutofit/>
          </a:bodyPr>
          <a:lstStyle/>
          <a:p>
            <a:r>
              <a:rPr lang="en-IN" dirty="0"/>
              <a:t>Kharif recorded the highest average yield, while Zaid had the lowest.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CB9A0E-B5DD-FC9F-5F3A-7CAAA957F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444" y="1238478"/>
            <a:ext cx="5137608" cy="43072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2D7D74-91B8-A97A-E474-551AB53184EB}"/>
              </a:ext>
            </a:extLst>
          </p:cNvPr>
          <p:cNvSpPr txBox="1"/>
          <p:nvPr/>
        </p:nvSpPr>
        <p:spPr>
          <a:xfrm>
            <a:off x="6149444" y="5656414"/>
            <a:ext cx="49081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Kharif had the highest total production, followed by Rabi and Zaid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5732780"/>
            <a:ext cx="5338343" cy="7391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Kharif showed the highest water efficiency, while Zaid showed the lowest.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6B84F4-C413-6613-77B4-ED8B0A473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47305"/>
            <a:ext cx="5420043" cy="43353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F443A0-1647-2E12-B7B8-63F6455DA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01586"/>
            <a:ext cx="5338343" cy="43810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E6A1F5-DAB0-E72A-8731-6E642E719ABB}"/>
              </a:ext>
            </a:extLst>
          </p:cNvPr>
          <p:cNvSpPr txBox="1"/>
          <p:nvPr/>
        </p:nvSpPr>
        <p:spPr>
          <a:xfrm>
            <a:off x="6177702" y="5656413"/>
            <a:ext cx="51815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Profit margins were negative in all seasons, with Kharif performing better than Rabi and Zaid.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5625050"/>
            <a:ext cx="5347771" cy="10399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Sugarcane showed a much higher median yield than the other crops, while Pulses had the lowest.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E41673-6BB6-A800-F25D-CFAD31778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395167"/>
            <a:ext cx="5347771" cy="4110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843BBD-58EC-8583-BF19-0E9CA6452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274" y="1395167"/>
            <a:ext cx="5275866" cy="41100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8EA430-984D-2952-6F2C-BBCAFA9DE519}"/>
              </a:ext>
            </a:extLst>
          </p:cNvPr>
          <p:cNvSpPr txBox="1"/>
          <p:nvPr/>
        </p:nvSpPr>
        <p:spPr>
          <a:xfrm>
            <a:off x="6168274" y="5582629"/>
            <a:ext cx="52758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Punjab recorded the highest average yield among the states, while Andhra Pradesh recorded the lowest.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28570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6" y="5886660"/>
            <a:ext cx="5347771" cy="10137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Water efficiency showed a strong positive correlation with yield, while market price showed a negative correlation.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2AE359-CBAF-6129-7E39-AEB1A0415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116706"/>
            <a:ext cx="5420043" cy="47699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E0520F-5BCD-7F23-0AC6-66D9DA25D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275" y="1116706"/>
            <a:ext cx="5257012" cy="4769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B3D7B9-5BF7-8D12-7910-D55D4E50DA82}"/>
              </a:ext>
            </a:extLst>
          </p:cNvPr>
          <p:cNvSpPr txBox="1"/>
          <p:nvPr/>
        </p:nvSpPr>
        <p:spPr>
          <a:xfrm>
            <a:off x="6168275" y="5886660"/>
            <a:ext cx="5347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Revenue generally increased with total cost, showing a positive relationship between production costs and revenue.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2004" y="5732057"/>
            <a:ext cx="7733521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Shows the variation in yield across different seasons.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FE9BC1-D09A-7437-C5FC-F204E5543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57" y="1103145"/>
            <a:ext cx="8651532" cy="436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90CA5F-54F0-A26A-05C1-4BD28A00018F}"/>
              </a:ext>
            </a:extLst>
          </p:cNvPr>
          <p:cNvSpPr txBox="1"/>
          <p:nvPr/>
        </p:nvSpPr>
        <p:spPr>
          <a:xfrm>
            <a:off x="675957" y="1484740"/>
            <a:ext cx="594165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IN" dirty="0"/>
              <a:t>Add real-time agricultural data for better analysis.</a:t>
            </a:r>
          </a:p>
          <a:p>
            <a:pPr lvl="0">
              <a:buClr>
                <a:srgbClr val="00B050"/>
              </a:buClr>
            </a:pPr>
            <a:r>
              <a:rPr lang="en-IN" dirty="0"/>
              <a:t> </a:t>
            </a:r>
          </a:p>
          <a:p>
            <a:pPr marL="285750" lvl="0" indent="-28575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IN" dirty="0"/>
              <a:t>Include weather and market price forecasting.</a:t>
            </a:r>
          </a:p>
          <a:p>
            <a:pPr lvl="0">
              <a:buClr>
                <a:srgbClr val="00B050"/>
              </a:buClr>
            </a:pPr>
            <a:r>
              <a:rPr lang="en-IN" dirty="0"/>
              <a:t> </a:t>
            </a:r>
          </a:p>
          <a:p>
            <a:pPr marL="285750" lvl="0" indent="-28575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IN" dirty="0"/>
              <a:t>Expand analysis to more crops, regions, and years. </a:t>
            </a:r>
          </a:p>
          <a:p>
            <a:pPr lvl="0">
              <a:buClr>
                <a:srgbClr val="00B050"/>
              </a:buClr>
            </a:pPr>
            <a:endParaRPr lang="en-IN" dirty="0"/>
          </a:p>
          <a:p>
            <a:pPr marL="285750" lvl="0" indent="-28575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IN" dirty="0"/>
              <a:t>Develop interactive dashboards for easier decision-making.</a:t>
            </a:r>
          </a:p>
          <a:p>
            <a:pPr lvl="0">
              <a:buClr>
                <a:srgbClr val="00B050"/>
              </a:buClr>
            </a:pPr>
            <a:r>
              <a:rPr lang="en-IN" dirty="0"/>
              <a:t> </a:t>
            </a:r>
          </a:p>
          <a:p>
            <a:pPr marL="285750" lvl="0" indent="-28575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IN" dirty="0"/>
              <a:t>Use machine learning for yield and crop performance prediction.</a:t>
            </a:r>
          </a:p>
          <a:p>
            <a:pPr lvl="0">
              <a:buClr>
                <a:srgbClr val="00B050"/>
              </a:buClr>
            </a:pPr>
            <a:r>
              <a:rPr lang="en-IN" dirty="0"/>
              <a:t> </a:t>
            </a:r>
          </a:p>
          <a:p>
            <a:pPr marL="285750" lvl="0" indent="-285750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IN" dirty="0"/>
              <a:t>Provide crop and resource planning recommendations based on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9926BE-1E7B-D64C-6C52-1BF6F8FAE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66" y="1527142"/>
            <a:ext cx="7937369" cy="445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633</TotalTime>
  <Words>524</Words>
  <Application>Microsoft Office PowerPoint</Application>
  <PresentationFormat>Widescreen</PresentationFormat>
  <Paragraphs>66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Title:-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Shubham Bagad</cp:lastModifiedBy>
  <cp:revision>98</cp:revision>
  <dcterms:created xsi:type="dcterms:W3CDTF">2021-07-11T13:13:15Z</dcterms:created>
  <dcterms:modified xsi:type="dcterms:W3CDTF">2026-09-10T18:19:31Z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